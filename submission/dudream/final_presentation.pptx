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0" y="-1828800"/>
            <a:ext cx="7315200" cy="7315200"/>
          </a:xfrm>
          <a:prstGeom prst="roundRect">
            <a:avLst>
              <a:gd name="adj" fmla="val 50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77240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E06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23774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두드림 프로그램 · 팀 왈라비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914400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캘린 (Calen)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058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AI 기반 일정 자동 재구성 서비스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두드림 프로그램 최종 결과 발표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7315200" cy="9525"/>
          </a:xfrm>
          <a:prstGeom prst="rect">
            <a:avLst/>
          </a:prstGeom>
          <a:solidFill>
            <a:srgbClr val="DB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발표자: 팀장 권오영 (IT대학 컴퓨터학부)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팀원: 김혜진 · 최수빈 · 송채은 · 이수민 · 황영인 · 이서현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지도교수: 신용태 (IT대학 컴퓨터학부)   ·   2026.06.05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팀 왈라비 · 캘린(Calen) · 두드림 최종 결과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1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35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029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731520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오늘 다룰 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64240" cy="9525"/>
          </a:xfrm>
          <a:prstGeom prst="rect">
            <a:avLst/>
          </a:prstGeom>
          <a:solidFill>
            <a:srgbClr val="DB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130552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프로젝트 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404872"/>
            <a:ext cx="4526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학문적 연구 프로젝트로서의 의미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4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14884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130552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팀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404872"/>
            <a:ext cx="4526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왈라비 팀 7명과 역할 분담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81635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16352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798064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4단계 진행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072384"/>
            <a:ext cx="4526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12주에 걸친 마일스톤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81635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816352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798064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시스템 아키텍처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072384"/>
            <a:ext cx="4526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View · ViewModel · Service 레이어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483864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83864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465576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주요 화면 시연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739896"/>
            <a:ext cx="4526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실제 동작하는 캘린·통계·동물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483864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483864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465576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핵심 기능 시연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739896"/>
            <a:ext cx="4526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AI 저녁 리뷰 · 초개인화 · 다국어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151376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151376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4133088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알고리즘 V1 → V2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4407408"/>
            <a:ext cx="4526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그리디에서 양방향 탐색으로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151376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4151376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4133088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사용자 평가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4407408"/>
            <a:ext cx="4526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UT · NASA-TLX · HEART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481888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818888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4800600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정량 성과 · 학문 기여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5880" y="5074920"/>
            <a:ext cx="4526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4개 KPI · XAI · Human-in-loop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팀 왈라비 · 캘린(Calen) · 두드림 최종 결과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2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35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029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PROJECT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731520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프로젝트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상용 서비스 개발이 아닌, AI · 알고리즘 · 시스템 · UX 통합 학습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64240" cy="9525"/>
          </a:xfrm>
          <a:prstGeom prst="rect">
            <a:avLst/>
          </a:prstGeom>
          <a:solidFill>
            <a:srgbClr val="DB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6858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프로젝트 한 줄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6858000" cy="2103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기존 일정 관리 도구가 단순 기록 기능에 머무르는 구조적 한계를 해결하기 위해, 일정 간의 맥락을 계산 가능한 형태로 모델링하고 자동으로 재구성하는 AI 기반 일정 운영 모델을 설계·실험한 프로젝트.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17720"/>
            <a:ext cx="6858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통합 적용한 학습 영역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83480"/>
            <a:ext cx="16459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1645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AI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23560"/>
            <a:ext cx="13716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스케줄링 알고리즘 선행 연구·설계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4983480"/>
            <a:ext cx="16459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5166360"/>
            <a:ext cx="1645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알고리즘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5623560"/>
            <a:ext cx="13716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변수·제약·목표함수 수학적 정의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4983480"/>
            <a:ext cx="16459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5166360"/>
            <a:ext cx="1645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5623560"/>
            <a:ext cx="13716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View·ViewModel·Service 레이어 설계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4983480"/>
            <a:ext cx="16459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5166360"/>
            <a:ext cx="1645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5623560"/>
            <a:ext cx="13716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사용자 평가·인지부하·HEART 측정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194560"/>
            <a:ext cx="3840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연구 절차 4단계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2606040"/>
            <a:ext cx="3840480" cy="822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2715768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STEP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935224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선행 연구 분석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172968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스케줄링·자동화 모델 변수 정의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3520440"/>
            <a:ext cx="3840480" cy="822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3630168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STEP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849624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시스템 구조 설계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087368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재구성 알고리즘·데이터 흐름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79" y="4434840"/>
            <a:ext cx="3840480" cy="822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544568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STEP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764024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실데이터 적용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5001768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충돌 해결 정확도·UX 변화 분석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79" y="5349240"/>
            <a:ext cx="3840480" cy="822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5458968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STEP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5678424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결과 정리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916168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한계·개선 방향·실험 보고서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팀 왈라비 · 캘린(Calen) · 두드림 최종 결과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3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35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029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731520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팀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팀 왈라비 — 7명, 4개 학부 협업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64240" cy="9525"/>
          </a:xfrm>
          <a:prstGeom prst="rect">
            <a:avLst/>
          </a:prstGeom>
          <a:solidFill>
            <a:srgbClr val="DB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377440"/>
            <a:ext cx="640080" cy="320040"/>
          </a:xfrm>
          <a:prstGeom prst="roundRect">
            <a:avLst>
              <a:gd name="adj" fmla="val 30000"/>
            </a:avLst>
          </a:prstGeom>
          <a:solidFill>
            <a:srgbClr val="E06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6400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377440"/>
            <a:ext cx="17373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권오영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IT대학 컴퓨터학부 4학년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90672"/>
            <a:ext cx="24688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전체 아키텍처 · Mac/iOS 개발 · UX 목적 정의 · 디자인씽킹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2194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11880" y="2377440"/>
            <a:ext cx="640080" cy="320040"/>
          </a:xfrm>
          <a:prstGeom prst="roundRect">
            <a:avLst>
              <a:gd name="adj" fmla="val 3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2377440"/>
            <a:ext cx="6400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377440"/>
            <a:ext cx="17373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김혜진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788920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인문대학 문예창작학부 4학년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090672"/>
            <a:ext cx="24688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PRD · 명세서 · KPI 대시보드 · HEART · 마케팅 방향성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194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92240" y="2377440"/>
            <a:ext cx="640080" cy="320040"/>
          </a:xfrm>
          <a:prstGeom prst="roundRect">
            <a:avLst>
              <a:gd name="adj" fmla="val 3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377440"/>
            <a:ext cx="6400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377440"/>
            <a:ext cx="17373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최수빈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788920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IT대학 컴퓨터학부 4학년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90672"/>
            <a:ext cx="24688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Calendar API · OAuth · 양방향 동기화 · 통합 예외 처리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2194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72600" y="2377440"/>
            <a:ext cx="640080" cy="320040"/>
          </a:xfrm>
          <a:prstGeom prst="roundRect">
            <a:avLst>
              <a:gd name="adj" fmla="val 3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2377440"/>
            <a:ext cx="6400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2377440"/>
            <a:ext cx="17373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송채은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788920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IT대학 글로벌미디어학부 4학년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3090672"/>
            <a:ext cx="24688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UI 키트 · 디자인 시스템 · SEO/리텐션 · 광고 전략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43887" y="4160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026767" y="4343400"/>
            <a:ext cx="640080" cy="320040"/>
          </a:xfrm>
          <a:prstGeom prst="roundRect">
            <a:avLst>
              <a:gd name="adj" fmla="val 3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26767" y="4343400"/>
            <a:ext cx="6400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58287" y="4343400"/>
            <a:ext cx="17373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이수민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26767" y="4754880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IT대학 글로벌미디어학부 3학년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26767" y="5056632"/>
            <a:ext cx="24688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와이어프레임 · Figma · UT · 디자인 시스템 매핑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24247" y="4160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907127" y="4343400"/>
            <a:ext cx="640080" cy="320040"/>
          </a:xfrm>
          <a:prstGeom prst="roundRect">
            <a:avLst>
              <a:gd name="adj" fmla="val 3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07127" y="4343400"/>
            <a:ext cx="6400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38647" y="4343400"/>
            <a:ext cx="17373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황영인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7127" y="4754880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IT대학 글로벌미디어학부 4학년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07127" y="5056632"/>
            <a:ext cx="24688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User Flow · 평가 구조 설계 · UT 진행 · UX 평가 보고서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04607" y="4160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787487" y="4343400"/>
            <a:ext cx="640080" cy="320040"/>
          </a:xfrm>
          <a:prstGeom prst="roundRect">
            <a:avLst>
              <a:gd name="adj" fmla="val 3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87487" y="4343400"/>
            <a:ext cx="6400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19007" y="4343400"/>
            <a:ext cx="17373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이서현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87487" y="4754880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AI대학 AI 융합학부 4학년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87487" y="5056632"/>
            <a:ext cx="24688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알고리즘 V1/V2 · 충돌 탐지 · Cost Function · 양방향 탐색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지도교수  ·  신용태 (IT대학 컴퓨터학부)   |   소속  ·  숭실대학교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팀 왈라비 · 캘린(Calen) · 두드림 최종 결과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4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35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029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731520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4단계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12주 — 기획·설계 → 프로토타입·연동 → 구현·검증 → 평가·고도화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64240" cy="9525"/>
          </a:xfrm>
          <a:prstGeom prst="rect">
            <a:avLst/>
          </a:prstGeom>
          <a:solidFill>
            <a:srgbClr val="DB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2705023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2705023" cy="640080"/>
          </a:xfrm>
          <a:prstGeom prst="roundRect">
            <a:avLst>
              <a:gd name="adj" fmla="val 6000"/>
            </a:avLst>
          </a:prstGeom>
          <a:solidFill>
            <a:srgbClr val="12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67712"/>
            <a:ext cx="2705023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1-3주차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14600"/>
            <a:ext cx="2705023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평균 달성도 92%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2339263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기획·설계 기반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2339263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PRD 초안 · IA / User Flow · 와이어프레임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Google Calendar API / OAuth 조사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알고리즘 변수·제약·의사코드 정의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5103" y="2194560"/>
            <a:ext cx="2705023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45103" y="2194560"/>
            <a:ext cx="2705023" cy="640080"/>
          </a:xfrm>
          <a:prstGeom prst="roundRect">
            <a:avLst>
              <a:gd name="adj" fmla="val 6000"/>
            </a:avLst>
          </a:prstGeom>
          <a:solidFill>
            <a:srgbClr val="12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5103" y="2267712"/>
            <a:ext cx="2705023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4-6주차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5103" y="2514600"/>
            <a:ext cx="2705023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평균 달성도 93%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983" y="3017520"/>
            <a:ext cx="2339263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프로토타입·연동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983" y="3566160"/>
            <a:ext cx="2339263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홈 / 캘린더 / 리스트 핵심 화면 구현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OAuth 토큰 · 캘린더 읽기 PoC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충돌 탐지 · 후보 생성 · 평가 지표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1567" y="2194560"/>
            <a:ext cx="2705023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41567" y="2194560"/>
            <a:ext cx="2705023" cy="640080"/>
          </a:xfrm>
          <a:prstGeom prst="roundRect">
            <a:avLst>
              <a:gd name="adj" fmla="val 6000"/>
            </a:avLst>
          </a:prstGeom>
          <a:solidFill>
            <a:srgbClr val="12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1567" y="2267712"/>
            <a:ext cx="2705023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7-9주차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1567" y="2514600"/>
            <a:ext cx="2705023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평균 달성도 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447" y="3017520"/>
            <a:ext cx="2339263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구현·검증·확장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4447" y="3566160"/>
            <a:ext cx="2339263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Mac 데모 안정화 · 10인 UT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양방향 동기화 · 통합 예외 처리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iOS·iPad 착수 · 공유 레이어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38031" y="2194560"/>
            <a:ext cx="2705023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38031" y="2194560"/>
            <a:ext cx="2705023" cy="640080"/>
          </a:xfrm>
          <a:prstGeom prst="roundRect">
            <a:avLst>
              <a:gd name="adj" fmla="val 6000"/>
            </a:avLst>
          </a:prstGeom>
          <a:solidFill>
            <a:srgbClr val="1D9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38031" y="2267712"/>
            <a:ext cx="2705023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10-12주차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38031" y="2514600"/>
            <a:ext cx="2705023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평균 달성도 95%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0911" y="3017520"/>
            <a:ext cx="2339263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UX 검증·V2·최종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0911" y="3566160"/>
            <a:ext cx="2339263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UT 2차 · NASA-TLX · 5점 척도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알고리즘 V2 (양방향+Soft Penalty)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최종 KPI 도출 · 보고서 마무리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지도교수 의견 — 매 주차 적절하게 개발이 진행되고 있음을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팀 왈라비 · 캘린(Calen) · 두드림 최종 결과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5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35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029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731520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시스템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Swift Package 단일 모듈 → Mac · iOS · iPad 공유 레이어 확장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64240" cy="9525"/>
          </a:xfrm>
          <a:prstGeom prst="rect">
            <a:avLst/>
          </a:prstGeom>
          <a:solidFill>
            <a:srgbClr val="DB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레이어 아키텍처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40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9748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View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53512"/>
            <a:ext cx="5943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MainView · CalendarGridView · ChatView · ReviewView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83280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7472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ViewModel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30752"/>
            <a:ext cx="5943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CalendarViewModel (@MainActor) — 상태 통합 관리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Service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07992"/>
            <a:ext cx="5943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GoogleAuth · GoogleCalendar · AIService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SmartScheduler · ReviewAI · UserContext · Goal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66360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5780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External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13832"/>
            <a:ext cx="5943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Google Calendar API · EventKit · Local CLI · Keychain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194560"/>
            <a:ext cx="4389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멀티플랫폼 확장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2606040"/>
            <a:ext cx="4389120" cy="8686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98079" y="2788920"/>
            <a:ext cx="822960" cy="502920"/>
          </a:xfrm>
          <a:prstGeom prst="roundRect">
            <a:avLst>
              <a:gd name="adj" fmla="val 2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2788920"/>
            <a:ext cx="8229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74320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0.0.1 → 0.3.80+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01752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채팅 · 만다라트 · Google Calendar · 테마 · 동물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3566160"/>
            <a:ext cx="4389120" cy="8686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98079" y="3749040"/>
            <a:ext cx="822960" cy="502920"/>
          </a:xfrm>
          <a:prstGeom prst="roundRect">
            <a:avLst>
              <a:gd name="adj" fmla="val 2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79" y="3749040"/>
            <a:ext cx="8229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70332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착수 (9주차~)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97764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MonthGrid · DayDetail · Chat · OAuth · Today Replan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0" y="4526280"/>
            <a:ext cx="4389120" cy="8686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98079" y="4709160"/>
            <a:ext cx="822960" cy="502920"/>
          </a:xfrm>
          <a:prstGeom prst="roundRect">
            <a:avLst>
              <a:gd name="adj" fmla="val 2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4709160"/>
            <a:ext cx="8229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iPad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66344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공유 레이어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93776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CalenShared · TimeGridLayout · WidgetKit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팀 왈라비 · 캘린(Calen) · 두드림 최종 결과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6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35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029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DEMO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731520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주요 화면 시연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실제 동작하는 캘린의 메인 인터페이스 — 다크 모드 + 픽셀 동물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64240" cy="9525"/>
          </a:xfrm>
          <a:prstGeom prst="rect">
            <a:avLst/>
          </a:prstGeom>
          <a:solidFill>
            <a:srgbClr val="DB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76809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_main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7498079" cy="48193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3920" y="2194560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메인 화면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514600"/>
            <a:ext cx="32918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통계 + 월간 캘린더 + 일정 패널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9184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291840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통계 패널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538728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오늘·이번주·달·연도 달성률,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30일 잔디 그리드 (207/717)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06908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069080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월간 통합 캘린더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315968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Google Calendar 연동,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색상별 카테고리·D-day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84632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846320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일일 일정 패널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5093208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오늘 일정·다가오는 마감,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로봇수업·대학원 서류 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62356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5623560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픽셀 동물 (감성 요소)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5870448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코알라·고양이·강아지 등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진행도에 따라 등장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팀 왈라비 · 캘린(Calen) · 두드림 최종 결과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7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35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029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DEMO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731520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핵심 기능 시연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AI 저녁 리뷰 · 초개인화 컨텍스트 · 외부 연동 · 다국어 지원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64240" cy="9525"/>
          </a:xfrm>
          <a:prstGeom prst="rect">
            <a:avLst/>
          </a:prstGeom>
          <a:solidFill>
            <a:srgbClr val="DB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410047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4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142" y="2377440"/>
            <a:ext cx="590995" cy="17373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34640" y="2423160"/>
            <a:ext cx="3032607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AI 저녁 리뷰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80360"/>
            <a:ext cx="3032607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5개의 미완료 할 일을 앞으로의 일정과 목표에 맞춰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자동으로 재배치 — '추천대로 이동' 한 번에 적용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7" y="2194560"/>
            <a:ext cx="5410047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5_con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2478024"/>
            <a:ext cx="1920240" cy="15361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81847" y="2423160"/>
            <a:ext cx="3032607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AI 초개인화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847" y="2880360"/>
            <a:ext cx="3032607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역할·목표·현재 상황·일정 패턴을 AI가 학습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12개 시험·자격증 자동 검색·캐싱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34840"/>
            <a:ext cx="5410047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2_integ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033954"/>
            <a:ext cx="1920240" cy="90489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834640" y="4663440"/>
            <a:ext cx="3032607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외부 연동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120640"/>
            <a:ext cx="3032607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Google Calendar OAuth + Apple Calendar/Reminders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캘린더 데이터는 기기에만 저장 (Local-first)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7" y="4434840"/>
            <a:ext cx="5410047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6_langu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7" y="4777032"/>
            <a:ext cx="1920239" cy="141873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81847" y="4663440"/>
            <a:ext cx="3032607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다국어 지원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1847" y="5120640"/>
            <a:ext cx="3032607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29개 언어 — 한국어·English·日本語·中文·Español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글로벌 사용성 확보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팀 왈라비 · 캘린(Calen) · 두드림 최종 결과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8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35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029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731520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알고리즘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그리디(단방향) → 양방향 탐색 + Soft Penalty (담당: 이서현)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64240" cy="9525"/>
          </a:xfrm>
          <a:prstGeom prst="rect">
            <a:avLst/>
          </a:prstGeom>
          <a:solidFill>
            <a:srgbClr val="DB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49424"/>
            <a:ext cx="53949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V1 — 단방향 그리디 (1차 실험)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17520"/>
            <a:ext cx="4846320" cy="2926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• 탐색 방향: 후방(Forward)만, 무조건 미루기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• 제약 처리: Hard Constraint 중심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• 실패 시 대응: 에러 반환 및 중단 (Unresolved)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• 공간 복잡도: 큐(Queue) 1개 운용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1차 실험 결과 (10개 시나리오)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• 충돌 해결: 80% (8/10) — TC-08, TC-10 FAIL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• 평균 지연: 35분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• 우선순위 보존: 85%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• 한계: 후반부 편중, 무한 루프 위험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9320" y="3703320"/>
            <a:ext cx="320040" cy="457200"/>
          </a:xfrm>
          <a:prstGeom prst="rightArrow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2194560"/>
            <a:ext cx="53949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2194560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1D9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249424"/>
            <a:ext cx="53949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V2 — 양방향 탐색 + Soft Penalty (2차 실험)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017520"/>
            <a:ext cx="4846320" cy="2926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• 탐색 방향: 양방향 (Forward + Backward)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• 제약 처리: Soft Constraint + Penalty 함수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• 실패 시 대응: 대안 제시 (Alternative Suggestion)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• 공간 복잡도: 다중 상태 큐 (대기 / 확정)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2차 실험 결과 (10개 시나리오)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• 충돌 해결: 100% (10/10) — TC-08·10 PASS 전환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• 평균 지연: 18분 (▼ 17분 단축)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• 우선순위 보존: 92% (▲ +7%p)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• 효과: Conflict-free 달성, 사용자에 유연한 대안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결론 — 비용 함수(Cost Function)와 양방향 탐색으로 알고리즘의 안정성과 유연성을 획기적으로 개선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팀 왈라비 · 캘린(Calen) · 두드림 최종 결과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9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35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029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USER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731520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사용자 평가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UT 10명 × 2회차 · 5점 척도 + 자유응답 + NASA-TLX + HEART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64240" cy="9525"/>
          </a:xfrm>
          <a:prstGeom prst="rect">
            <a:avLst/>
          </a:prstGeom>
          <a:solidFill>
            <a:srgbClr val="DB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평가 시나리오 (5개 핵심 과업)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87752"/>
            <a:ext cx="5029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Task 1  ·  월간 캘린더에서 전체 일정 확인하기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32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44952"/>
            <a:ext cx="5029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Task 2  ·  오늘 일정 확대해 빠르게 점검하기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204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02152"/>
            <a:ext cx="5029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Task 3  ·  AI 채팅으로 일정 조정 요청하기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59352"/>
            <a:ext cx="5029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Task 4  ·  AI 재계획된 일정 변경 결과 확인하기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348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416552"/>
            <a:ext cx="5029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Task 5  ·  설정 및 개인화 기능 사용하기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2920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20640"/>
            <a:ext cx="5029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정성 피드백 (인터뷰 발췌)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94960"/>
            <a:ext cx="50292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“AI가 멋대로 바꾸는 게 아니라 내 일정을 ‘수학적’으로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풀어주니까 내 일정이 통제되고 있다는 느낌을 받아서 안심이 됩니다.”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— 피험자 D (29세 직장인)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9456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HEART 프레임워크 (Goals · Signals · Metrics)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60604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606040"/>
            <a:ext cx="1463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Happiness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651760"/>
            <a:ext cx="3840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사용자 만족 · 누름의 가벼움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06324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063240"/>
            <a:ext cx="1463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Engagement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3108960"/>
            <a:ext cx="3840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콘텐츠 즐기고 계속 사용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52044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520440"/>
            <a:ext cx="1463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Adoption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3566160"/>
            <a:ext cx="3840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새 사용자 채택 · 신규 기능 가치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97764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977640"/>
            <a:ext cx="1463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Retention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023360"/>
            <a:ext cx="3840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핵심 행동 위해 다시 돌아옴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43484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434840"/>
            <a:ext cx="1463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Task Success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4480560"/>
            <a:ext cx="3840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빠르고 쉽게 완료할 수 있음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5029200"/>
            <a:ext cx="5303520" cy="12801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5120640"/>
            <a:ext cx="4937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NASA-TLX 인지부하 측정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394960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정신적 요구  7.6점  →  3.8점   (▼ 50% 감소)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760720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좌절 수준    5.8점  →  2.1점   (▼ 63% 감소)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팀 왈라비 · 캘린(Calen) · 두드림 최종 결과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10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35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029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KPI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731520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정량 성과 — 4개 핵심 KPI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12주차 최종 도출 결과 — 모든 지표 목표치 상회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64240" cy="9525"/>
          </a:xfrm>
          <a:prstGeom prst="rect">
            <a:avLst/>
          </a:prstGeom>
          <a:solidFill>
            <a:srgbClr val="DB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410047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4952847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일정 재구성 성공률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952847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수동 조정 시 이행률 → 최종 측정값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2011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55%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기존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80360" y="3246120"/>
            <a:ext cx="365760" cy="274320"/>
          </a:xfrm>
          <a:prstGeom prst="rightArrow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3063240"/>
            <a:ext cx="2392527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88%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657600"/>
            <a:ext cx="2392527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Calen 적용 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31920"/>
            <a:ext cx="4861407" cy="0"/>
          </a:xfrm>
          <a:prstGeom prst="roundRect">
            <a:avLst>
              <a:gd name="adj" fmla="val 50000"/>
            </a:avLst>
          </a:prstGeom>
          <a:solidFill>
            <a:srgbClr val="1D9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94760"/>
            <a:ext cx="5410047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D9E65"/>
                </a:solidFill>
                <a:latin typeface="Pretendard"/>
                <a:ea typeface="Pretendard"/>
                <a:cs typeface="Pretendard"/>
              </a:rPr>
              <a:t>▲ 33%p 향상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0127" y="2194560"/>
            <a:ext cx="5410047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8727" y="2331720"/>
            <a:ext cx="4952847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스케줄링 의사결정 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2651760"/>
            <a:ext cx="4952847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1회 의사결정 평균 소요 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063240"/>
            <a:ext cx="2011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48초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8727" y="365760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기존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381847" y="3246120"/>
            <a:ext cx="365760" cy="274320"/>
          </a:xfrm>
          <a:prstGeom prst="rightArrow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39047" y="3063240"/>
            <a:ext cx="2392527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6.2초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9047" y="3657600"/>
            <a:ext cx="2392527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Calen 적용 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4447" y="3931920"/>
            <a:ext cx="4861407" cy="0"/>
          </a:xfrm>
          <a:prstGeom prst="roundRect">
            <a:avLst>
              <a:gd name="adj" fmla="val 50000"/>
            </a:avLst>
          </a:prstGeom>
          <a:solidFill>
            <a:srgbClr val="1D9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0127" y="3794760"/>
            <a:ext cx="5410047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D9E65"/>
                </a:solidFill>
                <a:latin typeface="Pretendard"/>
                <a:ea typeface="Pretendard"/>
                <a:cs typeface="Pretendard"/>
              </a:rPr>
              <a:t>▼ 41.8초 단축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251960"/>
            <a:ext cx="5410047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389120"/>
            <a:ext cx="4952847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정신적 인지부하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709160"/>
            <a:ext cx="4952847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NASA-TLX 기준 (10점 만점)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120640"/>
            <a:ext cx="2011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7.6점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71500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기존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2880360" y="5303520"/>
            <a:ext cx="365760" cy="274320"/>
          </a:xfrm>
          <a:prstGeom prst="rightArrow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5120640"/>
            <a:ext cx="2392527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3.8점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5715000"/>
            <a:ext cx="2392527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Calen 적용 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989320"/>
            <a:ext cx="4861407" cy="0"/>
          </a:xfrm>
          <a:prstGeom prst="roundRect">
            <a:avLst>
              <a:gd name="adj" fmla="val 50000"/>
            </a:avLst>
          </a:prstGeom>
          <a:solidFill>
            <a:srgbClr val="1D9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852160"/>
            <a:ext cx="5410047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D9E65"/>
                </a:solidFill>
                <a:latin typeface="Pretendard"/>
                <a:ea typeface="Pretendard"/>
                <a:cs typeface="Pretendard"/>
              </a:rPr>
              <a:t>▼ 50% 인지 부하 감소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50127" y="4251960"/>
            <a:ext cx="5410047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8727" y="4389120"/>
            <a:ext cx="4952847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XAI 설명 가능성 만족도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78727" y="4709160"/>
            <a:ext cx="4952847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기존 자동화 서비스 → Calen (5점 만점)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78727" y="5120640"/>
            <a:ext cx="2011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2.1점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8727" y="571500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기존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381847" y="5303520"/>
            <a:ext cx="365760" cy="274320"/>
          </a:xfrm>
          <a:prstGeom prst="rightArrow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39047" y="5120640"/>
            <a:ext cx="2392527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4.7점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39047" y="5715000"/>
            <a:ext cx="2392527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Calen 적용 후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24447" y="5989320"/>
            <a:ext cx="4861407" cy="0"/>
          </a:xfrm>
          <a:prstGeom prst="roundRect">
            <a:avLst>
              <a:gd name="adj" fmla="val 50000"/>
            </a:avLst>
          </a:prstGeom>
          <a:solidFill>
            <a:srgbClr val="1D9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50127" y="5852160"/>
            <a:ext cx="5410047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D9E65"/>
                </a:solidFill>
                <a:latin typeface="Pretendard"/>
                <a:ea typeface="Pretendard"/>
                <a:cs typeface="Pretendard"/>
              </a:rPr>
              <a:t>▲ 2.6점 신뢰도 향상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팀 왈라비 · 캘린(Calen) · 두드림 최종 결과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11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35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029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ACADEMIC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731520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XAI · Human-in-the-loop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본 프로젝트의 가장 큰 학문적 기여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64240" cy="9525"/>
          </a:xfrm>
          <a:prstGeom prst="rect">
            <a:avLst/>
          </a:prstGeom>
          <a:solidFill>
            <a:srgbClr val="DB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53212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457200" cy="3931920"/>
          </a:xfrm>
          <a:prstGeom prst="roundRect">
            <a:avLst>
              <a:gd name="adj" fmla="val 6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23160"/>
            <a:ext cx="47091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설명 가능 AI (XAI)의 UX적 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74720"/>
            <a:ext cx="4709160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AI가 수행한 결과만 보여주지 않고, '이동 시간 부족', '우선순위 낮음' 등의 근거 메시지와 Before/After 대조 레이아웃을 함께 제공한 것이 신뢰도 향상의 핵심 요인임을 데이터로 입증.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5166360"/>
            <a:ext cx="4251960" cy="77724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212080"/>
            <a:ext cx="425196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XAI 만족도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2.1 → 4.7점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94560"/>
            <a:ext cx="553212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2194560"/>
            <a:ext cx="457200" cy="3931920"/>
          </a:xfrm>
          <a:prstGeom prst="roundRect">
            <a:avLst>
              <a:gd name="adj" fmla="val 6000"/>
            </a:avLst>
          </a:prstGeom>
          <a:solidFill>
            <a:srgbClr val="E06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42316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423160"/>
            <a:ext cx="47091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Human-in-the-loop 모델의 유효성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474720"/>
            <a:ext cx="4709160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최종 확정 권한을 사용자에게 부여하는 인터랙션(승인/거부)을 통해, 자동화 시스템에서 발생하던 거부감을 완화하고 서비스 수용성을 극대화. AI 판단 + 인간 결정 = 신뢰 가능한 자동화.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5166360"/>
            <a:ext cx="4251960" cy="77724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5212080"/>
            <a:ext cx="425196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E06D39"/>
                </a:solidFill>
                <a:latin typeface="Pretendard"/>
                <a:ea typeface="Pretendard"/>
                <a:cs typeface="Pretendard"/>
              </a:rPr>
              <a:t>재구성 성공률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E06D39"/>
                </a:solidFill>
                <a:latin typeface="Pretendard"/>
                <a:ea typeface="Pretendard"/>
                <a:cs typeface="Pretendard"/>
              </a:rPr>
              <a:t>55% → 88%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이 두 발견은 향후 AI 일정 관리 분야의 설계 지침으로 활용될 수 있는 학문적 자산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팀 왈라비 · 캘린(Calen) · 두드림 최종 결과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12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35000"/>
            </a:avLst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029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D8C"/>
                </a:solidFill>
                <a:latin typeface="Pretendard"/>
                <a:ea typeface="Pretendard"/>
                <a:cs typeface="Pretendard"/>
              </a:rPr>
              <a:t>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731520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F1B2D"/>
                </a:solidFill>
                <a:latin typeface="Pretendard"/>
                <a:ea typeface="Pretendard"/>
                <a:cs typeface="Pretendard"/>
              </a:rPr>
              <a:t>팀원별 기여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88295"/>
                </a:solidFill>
                <a:latin typeface="Pretendard"/>
                <a:ea typeface="Pretendard"/>
                <a:cs typeface="Pretendard"/>
              </a:rPr>
              <a:t>10-12주차 자체평가 — 7명 전원의 핵심 산출물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64240" cy="9525"/>
          </a:xfrm>
          <a:prstGeom prst="rect">
            <a:avLst/>
          </a:prstGeom>
          <a:solidFill>
            <a:srgbClr val="DB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권오영 (팀장)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267712"/>
            <a:ext cx="8686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Mac/iOS·PC 통합 환경 UX 정의 · 디자인씽킹 프로세스 팀 내 도입 · 전체 시스템 아키텍처 안정화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61488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61488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김혜진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834640"/>
            <a:ext cx="8686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알고리즘 V1 vs V2 비교 보고서 · 메타광고 기획 · Mobile/PC 플랫폼별 브랜딩 차별화 전략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28416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28416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최수빈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401568"/>
            <a:ext cx="8686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Google Calendar API 연동 구조 재설계 · OAuth 안정화 · 이벤트 정규화 파이프라인 · 통합 예외 처리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95344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95344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송채은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968496"/>
            <a:ext cx="8686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UI/UX 개념·심리학 원칙 디자인 적용 · 시스템 안정성 개선 구조 · SEO·리텐션·광고 전략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62272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62272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이수민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535424"/>
            <a:ext cx="8686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사용성 테스트(UT) 시나리오 설계 · Figma 핸드오프 자산화 · Mobile/PC 디자인 시스템 매핑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29200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황영인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5102352"/>
            <a:ext cx="8686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사용자 평가 구조 설계 → 10명 실사용 검증 → UX 평가 보고서 · MAU 성장 전략 종합 정리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596128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D8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596128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2335E"/>
                </a:solidFill>
                <a:latin typeface="Pretendard"/>
                <a:ea typeface="Pretendard"/>
                <a:cs typeface="Pretendard"/>
              </a:rPr>
              <a:t>이서현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5669280"/>
            <a:ext cx="8686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F4C60"/>
                </a:solidFill>
                <a:latin typeface="Pretendard"/>
                <a:ea typeface="Pretendard"/>
                <a:cs typeface="Pretendard"/>
              </a:rPr>
              <a:t>9주차 V1 한계 분석 → 양방향 탐색 + Soft Penalty 적용 V2 설계·구현 · 1차 FAIL 케이스 전원 PASS · 충돌 해결 80%→100%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-1828800"/>
            <a:ext cx="7315200" cy="7315200"/>
          </a:xfrm>
          <a:prstGeom prst="roundRect">
            <a:avLst>
              <a:gd name="adj" fmla="val 50000"/>
            </a:avLst>
          </a:prstGeom>
          <a:solidFill>
            <a:srgbClr val="12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D8E3F2"/>
                </a:solidFill>
                <a:latin typeface="Pretendard"/>
                <a:ea typeface="Pretendard"/>
                <a:cs typeface="Pretendard"/>
              </a:rPr>
              <a:t>팀 왈라비  ·  캘린(Calen)  ·  AI 기반 일정 자동 재구성 서비스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D8E3F2"/>
                </a:solidFill>
                <a:latin typeface="Pretendard"/>
                <a:ea typeface="Pretendard"/>
                <a:cs typeface="Pretendard"/>
              </a:rPr>
              <a:t>권오영 · 김혜진 · 최수빈 · 송채은 · 이수민 · 황영인 · 이서현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D8E3F2"/>
                </a:solidFill>
                <a:latin typeface="Pretendard"/>
                <a:ea typeface="Pretendard"/>
                <a:cs typeface="Pretendard"/>
              </a:rPr>
              <a:t>지도교수: 신용태 (IT대학 컴퓨터학부)  ·  2026.06.05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